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irector" pitchFamily="2" charset="0"/>
      <p:regular r:id="rId13"/>
    </p:embeddedFont>
    <p:embeddedFont>
      <p:font typeface="Inter" panose="020B05020300000000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EAAF"/>
    <a:srgbClr val="B9BCFF"/>
    <a:srgbClr val="A3A7FF"/>
    <a:srgbClr val="ABFFC7"/>
    <a:srgbClr val="9F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F9AE-E659-8F90-4D57-33C0C1626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389B3-1014-6FC8-1E9E-E58F1055E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058DB-5C4F-6D92-D9D1-9DCF9896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CBBAF-914E-1C41-15E7-51B33317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1C59A-DBC9-BC89-0748-35166AAB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6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16A0-308E-99AE-7AE0-0B828DD7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5992-43E3-ECDC-7A25-0E1C9C699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AFBE0-908C-2128-358C-679613E9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845D4-8D5D-77B6-0D30-64B1CEC3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50268-B6E4-FB14-EE87-BA7D8045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2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A38C-743F-B309-A11E-770EEFDBA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15BB2-5F94-0966-B1C9-763A0F8D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0FAAC-7623-5A33-11B7-9E5FE460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84788-D6EB-D44F-A739-F0DDA7C2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125A3-6549-C522-56DE-6FCBF4BF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9D9A-89B5-6A0B-2584-5CE8D387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BF25-A425-A9FD-DB5E-B0EBE61A0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9A94C-8F08-43C9-79D6-AFC69C640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0E9EF-569C-CC74-FE23-D136482D3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370E8-29B8-9A15-0581-D926840C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B8DFD-9296-A1E5-320B-3B23C9C2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5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635E-6B23-C15B-BE58-E12DBE9C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78E2C-B03C-DB2A-99EB-DD5575F16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FF76C-19AE-0D31-AF19-B996A1666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8B695-9AB3-FE50-F0D6-B6214A20D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F9207-70D2-2948-7A9C-2339A2917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91028-59EA-DB24-BADE-DF608ED8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A784E-CA7A-D410-5794-C384720A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55F46-1149-ABC1-8ACD-39A8AEFF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2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B865-4FBF-CAB6-33A4-ADE53386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40029-C041-6163-8121-E1F8EA9C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127E8-57AF-DBB6-C601-DC9D5FDF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2134B-26D6-A800-F5A7-47D84497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C5DA2-A708-4F4B-6A0E-8992A091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58AD4-DD91-148D-C663-42090D40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54269-1CF9-FBCA-BE68-B444CEDB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7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D5BE-D2E8-FF3C-7A8B-163D807A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84D8-BDCC-76D5-3040-F9DB4E21E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82898-171E-A922-BE4E-23B6BD718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AA3D5-1984-078B-3E42-06EF8682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63F1D-C2E8-8D9B-D565-6272FCD8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E4E91-C649-CA7A-0768-C20F8071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8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C704-B4F9-EC11-6119-960D86BC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438A6-B4F1-FEF5-55AD-CA322FFB9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7B21E-0038-0CE6-4691-E7450B405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FC911-E762-7508-2E7F-6FCD7EA8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E9725-8A3A-5F95-2D45-57E52A20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78444-12CB-0E75-F22B-7DB286CC5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7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A3F9-13BB-5124-11AF-FC447A33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3AA26-6E4C-B7DA-90BA-2D09FAFE1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7C05F-F6B4-E6F9-9467-631A3E53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371D0-3C82-4DE1-5965-A2689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BE5D6-0CA5-62AE-6979-490EBC61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5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06435-3258-2F6B-E350-58C7A3AE4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83F68-5D38-3D10-9314-B237F4DEB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E2C80-EA69-B4AE-93B1-A6FCCEE5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364F1-FBAE-275E-58EA-E1E85406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9FE17-6E71-6C86-3AB0-F3AB3407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BA1BD-D914-7CC8-8BAE-160E2537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56706-C98D-D571-D1C0-3D427BF64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6F80-50CF-B33C-A26F-989DB52CD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3EBA1-EAFE-4E98-A49D-3C4821424A5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EF9BC-91C5-D7E7-07D7-9DA0A07AA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4ECDD-14A9-4322-ABCF-958B270CF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03B35-F1A3-4989-9DD9-36F517270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7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gs/hto-projects/projects/10/views/2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E79B-9C6D-E5A7-56CF-6729FB17C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7744" y="0"/>
            <a:ext cx="12429744" cy="4416552"/>
          </a:xfrm>
        </p:spPr>
        <p:txBody>
          <a:bodyPr anchor="ctr">
            <a:normAutofit/>
          </a:bodyPr>
          <a:lstStyle/>
          <a:p>
            <a:pPr algn="r">
              <a:lnSpc>
                <a:spcPts val="8000"/>
              </a:lnSpc>
            </a:pPr>
            <a:r>
              <a:rPr lang="en-US" sz="8000" spc="-1500" dirty="0">
                <a:latin typeface="Director" pitchFamily="2" charset="0"/>
                <a:ea typeface="Director" pitchFamily="2" charset="0"/>
              </a:rPr>
              <a:t>you should know by now how much </a:t>
            </a:r>
            <a:r>
              <a:rPr lang="en-US" sz="8000" spc="-1500" dirty="0" err="1">
                <a:latin typeface="Director" pitchFamily="2" charset="0"/>
                <a:ea typeface="Director" pitchFamily="2" charset="0"/>
              </a:rPr>
              <a:t>i</a:t>
            </a:r>
            <a:r>
              <a:rPr lang="en-US" sz="8000" spc="-1500" dirty="0">
                <a:latin typeface="Director" pitchFamily="2" charset="0"/>
                <a:ea typeface="Director" pitchFamily="2" charset="0"/>
              </a:rPr>
              <a:t> love to make </a:t>
            </a:r>
            <a:r>
              <a:rPr lang="en-US" sz="8000" spc="-1500" dirty="0" err="1">
                <a:latin typeface="Director" pitchFamily="2" charset="0"/>
                <a:ea typeface="Director" pitchFamily="2" charset="0"/>
              </a:rPr>
              <a:t>powerpoints</a:t>
            </a:r>
            <a:r>
              <a:rPr lang="en-US" sz="8000" spc="-1500" dirty="0">
                <a:latin typeface="Director" pitchFamily="2" charset="0"/>
                <a:ea typeface="Director" pitchFamily="2" charset="0"/>
              </a:rPr>
              <a:t> so here is another 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2EDBC-6567-6611-9287-744F594E37C4}"/>
              </a:ext>
            </a:extLst>
          </p:cNvPr>
          <p:cNvSpPr txBox="1"/>
          <p:nvPr/>
        </p:nvSpPr>
        <p:spPr>
          <a:xfrm>
            <a:off x="0" y="4661555"/>
            <a:ext cx="12192000" cy="2196445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54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HyTOP</a:t>
            </a:r>
            <a:r>
              <a:rPr lang="en-US" sz="54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Project Roadmap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297459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A0654-CD27-03A2-BE26-180E8894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BC0DEF-A724-64B0-B491-65E9798823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844549"/>
            <a:ext cx="12191999" cy="98170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796B01-0FF9-2ADC-CF07-0EA8B4B9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spc="2000" dirty="0">
                <a:latin typeface="Director" pitchFamily="2" charset="0"/>
                <a:ea typeface="Director" pitchFamily="2" charset="0"/>
              </a:rPr>
              <a:t>GOALS</a:t>
            </a:r>
            <a:endParaRPr lang="en-US" sz="6600" b="1" spc="2000" dirty="0">
              <a:latin typeface="Director" pitchFamily="2" charset="0"/>
              <a:ea typeface="Director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5E68B-6884-1B17-AA76-6DCFA1D4C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3443799"/>
          </a:xfrm>
          <a:solidFill>
            <a:schemeClr val="bg1"/>
          </a:solidFill>
        </p:spPr>
        <p:txBody>
          <a:bodyPr anchor="ctr"/>
          <a:lstStyle/>
          <a:p>
            <a:pPr marL="0" indent="0">
              <a:buNone/>
            </a:pPr>
            <a:r>
              <a:rPr lang="en-US" sz="4400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What is good for </a:t>
            </a:r>
            <a:r>
              <a:rPr lang="en-US" sz="4400" dirty="0" err="1">
                <a:ln w="3175"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irector" pitchFamily="2" charset="0"/>
                <a:ea typeface="Director" pitchFamily="2" charset="0"/>
              </a:rPr>
              <a:t>HyTOP</a:t>
            </a:r>
            <a:r>
              <a:rPr lang="en-US" sz="4400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  </a:t>
            </a:r>
            <a:r>
              <a:rPr lang="en-US" sz="4000" i="1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vs.</a:t>
            </a:r>
            <a:endParaRPr lang="en-US" sz="4000" dirty="0">
              <a:ln w="3175">
                <a:noFill/>
              </a:ln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r>
              <a:rPr lang="en-US" sz="4400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	What is good for </a:t>
            </a:r>
            <a:r>
              <a:rPr lang="en-US" sz="4400" dirty="0">
                <a:ln w="3175"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irector" pitchFamily="2" charset="0"/>
                <a:ea typeface="Director" pitchFamily="2" charset="0"/>
              </a:rPr>
              <a:t>Tech Outreach</a:t>
            </a:r>
            <a:r>
              <a:rPr lang="en-US" sz="4400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  </a:t>
            </a:r>
            <a:r>
              <a:rPr lang="en-US" sz="4000" i="1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vs.</a:t>
            </a:r>
            <a:endParaRPr lang="en-US" sz="4000" dirty="0">
              <a:ln w="3175">
                <a:noFill/>
              </a:ln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r>
              <a:rPr lang="en-US" sz="4400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		What is good for </a:t>
            </a:r>
            <a:r>
              <a:rPr lang="en-US" sz="4400" dirty="0">
                <a:ln w="3175"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irector" pitchFamily="2" charset="0"/>
                <a:ea typeface="Director" pitchFamily="2" charset="0"/>
              </a:rPr>
              <a:t>you</a:t>
            </a:r>
            <a:r>
              <a:rPr lang="en-US" sz="4400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  </a:t>
            </a:r>
            <a:r>
              <a:rPr lang="en-US" sz="4000" i="1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vs.</a:t>
            </a:r>
            <a:endParaRPr lang="en-US" sz="4000" dirty="0">
              <a:ln w="3175">
                <a:noFill/>
              </a:ln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r>
              <a:rPr lang="en-US" sz="4400" dirty="0">
                <a:ln w="3175">
                  <a:noFill/>
                </a:ln>
                <a:latin typeface="Inter" panose="020B0502030000000004" pitchFamily="34" charset="0"/>
                <a:ea typeface="Inter" panose="020B0502030000000004" pitchFamily="34" charset="0"/>
              </a:rPr>
              <a:t>			What is good for </a:t>
            </a:r>
            <a:r>
              <a:rPr lang="en-US" sz="4400" dirty="0">
                <a:ln w="3175"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irector" pitchFamily="2" charset="0"/>
                <a:ea typeface="Director" pitchFamily="2" charset="0"/>
              </a:rPr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399395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013A17F-2798-9DF6-A7DF-70A8E7AB86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844549"/>
            <a:ext cx="12191999" cy="9817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D8811B-230F-A2DF-4ADF-A64D7C4F363C}"/>
              </a:ext>
            </a:extLst>
          </p:cNvPr>
          <p:cNvSpPr txBox="1"/>
          <p:nvPr/>
        </p:nvSpPr>
        <p:spPr>
          <a:xfrm>
            <a:off x="402953" y="580596"/>
            <a:ext cx="4990457" cy="212585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800" b="1" u="sng" dirty="0">
                <a:latin typeface="Inter" panose="020B0502030000000004" pitchFamily="34" charset="0"/>
                <a:ea typeface="Inter" panose="020B0502030000000004" pitchFamily="34" charset="0"/>
              </a:rPr>
              <a:t>Good for </a:t>
            </a:r>
            <a:r>
              <a:rPr lang="en-US" sz="2800" b="1" u="sng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ter" panose="020B0502030000000004" pitchFamily="34" charset="0"/>
                <a:ea typeface="Inter" panose="020B0502030000000004" pitchFamily="34" charset="0"/>
              </a:rPr>
              <a:t>HyTOP</a:t>
            </a:r>
            <a:endParaRPr lang="en-US" sz="28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algn="ctr"/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</a:rPr>
              <a:t>Bug Fixes &amp; Small Features</a:t>
            </a:r>
          </a:p>
          <a:p>
            <a:pPr algn="ctr"/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</a:rPr>
              <a:t>Security,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25BD6-6BB9-B792-5DE5-8C90AEEC77A0}"/>
              </a:ext>
            </a:extLst>
          </p:cNvPr>
          <p:cNvSpPr txBox="1"/>
          <p:nvPr/>
        </p:nvSpPr>
        <p:spPr>
          <a:xfrm>
            <a:off x="3890072" y="3064494"/>
            <a:ext cx="4990457" cy="212585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800" b="1" u="sng" dirty="0">
                <a:latin typeface="Inter" panose="020B0502030000000004" pitchFamily="34" charset="0"/>
                <a:ea typeface="Inter" panose="020B0502030000000004" pitchFamily="34" charset="0"/>
              </a:rPr>
              <a:t>Good for </a:t>
            </a:r>
            <a:r>
              <a:rPr lang="en-US" sz="28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ter" panose="020B0502030000000004" pitchFamily="34" charset="0"/>
                <a:ea typeface="Inter" panose="020B0502030000000004" pitchFamily="34" charset="0"/>
              </a:rPr>
              <a:t>Tech Outreach</a:t>
            </a:r>
          </a:p>
          <a:p>
            <a:pPr algn="ctr"/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</a:rPr>
              <a:t>Impressing Executives</a:t>
            </a:r>
          </a:p>
          <a:p>
            <a:pPr algn="ctr"/>
            <a:r>
              <a:rPr lang="en-US" sz="2800" dirty="0" err="1">
                <a:latin typeface="Inter" panose="020B0502030000000004" pitchFamily="34" charset="0"/>
                <a:ea typeface="Inter" panose="020B0502030000000004" pitchFamily="34" charset="0"/>
              </a:rPr>
              <a:t>HyTOP</a:t>
            </a:r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</a:rPr>
              <a:t> being good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F3D59-221A-DEF4-DC33-DA722232E394}"/>
              </a:ext>
            </a:extLst>
          </p:cNvPr>
          <p:cNvSpPr txBox="1"/>
          <p:nvPr/>
        </p:nvSpPr>
        <p:spPr>
          <a:xfrm>
            <a:off x="6721102" y="580595"/>
            <a:ext cx="4990457" cy="212585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800" b="1" u="sng" dirty="0">
                <a:latin typeface="Inter" panose="020B0502030000000004" pitchFamily="34" charset="0"/>
                <a:ea typeface="Inter" panose="020B0502030000000004" pitchFamily="34" charset="0"/>
              </a:rPr>
              <a:t>Good for </a:t>
            </a:r>
            <a:r>
              <a:rPr lang="en-US" sz="28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ter" panose="020B0502030000000004" pitchFamily="34" charset="0"/>
                <a:ea typeface="Inter" panose="020B0502030000000004" pitchFamily="34" charset="0"/>
              </a:rPr>
              <a:t>You</a:t>
            </a:r>
          </a:p>
          <a:p>
            <a:pPr algn="ctr"/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</a:rPr>
              <a:t>Learning</a:t>
            </a:r>
          </a:p>
          <a:p>
            <a:pPr algn="ctr"/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</a:rPr>
              <a:t>Positive experience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EC26C-FAFA-DA2D-67A6-0F9CB136998E}"/>
              </a:ext>
            </a:extLst>
          </p:cNvPr>
          <p:cNvSpPr txBox="1"/>
          <p:nvPr/>
        </p:nvSpPr>
        <p:spPr>
          <a:xfrm>
            <a:off x="-1" y="5548393"/>
            <a:ext cx="12192001" cy="130960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800" b="1" u="sng" dirty="0">
                <a:latin typeface="Inter" panose="020B0502030000000004" pitchFamily="34" charset="0"/>
                <a:ea typeface="Inter" panose="020B0502030000000004" pitchFamily="34" charset="0"/>
              </a:rPr>
              <a:t>Good for </a:t>
            </a:r>
            <a:r>
              <a:rPr lang="en-US" sz="28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ter" panose="020B0502030000000004" pitchFamily="34" charset="0"/>
                <a:ea typeface="Inter" panose="020B0502030000000004" pitchFamily="34" charset="0"/>
              </a:rPr>
              <a:t>Me</a:t>
            </a:r>
          </a:p>
          <a:p>
            <a:pPr algn="ctr"/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</a:rPr>
              <a:t>All of the above </a:t>
            </a:r>
            <a:r>
              <a:rPr lang="en-US" sz="2800" dirty="0">
                <a:latin typeface="Inter" panose="020B0502030000000004" pitchFamily="34" charset="0"/>
                <a:ea typeface="Inter" panose="020B0502030000000004" pitchFamily="34" charset="0"/>
                <a:sym typeface="Wingdings" panose="05000000000000000000" pitchFamily="2" charset="2"/>
              </a:rPr>
              <a:t></a:t>
            </a:r>
            <a:endParaRPr lang="en-US" sz="28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CEE971-AB28-EADA-7A07-A3EAFEC7552F}"/>
              </a:ext>
            </a:extLst>
          </p:cNvPr>
          <p:cNvSpPr/>
          <p:nvPr/>
        </p:nvSpPr>
        <p:spPr>
          <a:xfrm>
            <a:off x="10647332" y="2399266"/>
            <a:ext cx="878244" cy="8679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Director" pitchFamily="2" charset="0"/>
                <a:ea typeface="Director" pitchFamily="2" charset="0"/>
              </a:rPr>
              <a:t>1</a:t>
            </a:r>
            <a:endParaRPr lang="en-US" b="1" dirty="0">
              <a:solidFill>
                <a:schemeClr val="tx1"/>
              </a:solidFill>
              <a:latin typeface="Director" pitchFamily="2" charset="0"/>
              <a:ea typeface="Director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06EA7C-CAAA-C8DC-BFCB-89190D113755}"/>
              </a:ext>
            </a:extLst>
          </p:cNvPr>
          <p:cNvSpPr/>
          <p:nvPr/>
        </p:nvSpPr>
        <p:spPr>
          <a:xfrm>
            <a:off x="5530303" y="2476757"/>
            <a:ext cx="878244" cy="8679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Director" pitchFamily="2" charset="0"/>
                <a:ea typeface="Director" pitchFamily="2" charset="0"/>
              </a:rPr>
              <a:t>2</a:t>
            </a:r>
            <a:endParaRPr lang="en-US" b="1" dirty="0">
              <a:solidFill>
                <a:schemeClr val="tx1"/>
              </a:solidFill>
              <a:latin typeface="Director" pitchFamily="2" charset="0"/>
              <a:ea typeface="Director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56BA8C-E0DD-B4F5-E394-427BD72D2129}"/>
              </a:ext>
            </a:extLst>
          </p:cNvPr>
          <p:cNvSpPr/>
          <p:nvPr/>
        </p:nvSpPr>
        <p:spPr>
          <a:xfrm>
            <a:off x="1048713" y="2476757"/>
            <a:ext cx="878244" cy="8679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Director" pitchFamily="2" charset="0"/>
                <a:ea typeface="Director" pitchFamily="2" charset="0"/>
              </a:rPr>
              <a:t>3</a:t>
            </a:r>
            <a:endParaRPr lang="en-US" b="1" dirty="0">
              <a:solidFill>
                <a:schemeClr val="tx1"/>
              </a:solidFill>
              <a:latin typeface="Director" pitchFamily="2" charset="0"/>
              <a:ea typeface="Direct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84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9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photo of a geological compass">
            <a:extLst>
              <a:ext uri="{FF2B5EF4-FFF2-40B4-BE49-F238E27FC236}">
                <a16:creationId xmlns:a16="http://schemas.microsoft.com/office/drawing/2014/main" id="{BDA15D1D-E1EB-2D0B-4136-FB4EC6F825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CE3E30-E699-EA2E-EB6D-CA115A7C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7200" b="1" spc="2000" dirty="0">
                <a:solidFill>
                  <a:schemeClr val="bg1"/>
                </a:solidFill>
                <a:latin typeface="Director" pitchFamily="2" charset="0"/>
                <a:ea typeface="Director" pitchFamily="2" charset="0"/>
              </a:rPr>
              <a:t>ORIENTATION:</a:t>
            </a:r>
            <a:endParaRPr lang="en-US" sz="6600" b="1" spc="2000" dirty="0">
              <a:solidFill>
                <a:schemeClr val="bg1"/>
              </a:solidFill>
              <a:latin typeface="Director" pitchFamily="2" charset="0"/>
              <a:ea typeface="Director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44EA8-F781-4E59-48B5-52F8E1141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4298"/>
            <a:ext cx="12192000" cy="43326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i="1" u="sng" spc="5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FINAL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FC422-FFD1-14B0-7632-633857F99DC5}"/>
              </a:ext>
            </a:extLst>
          </p:cNvPr>
          <p:cNvSpPr txBox="1"/>
          <p:nvPr/>
        </p:nvSpPr>
        <p:spPr>
          <a:xfrm>
            <a:off x="838200" y="2602171"/>
            <a:ext cx="10285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When you need to decide where to focus, you should always orient yourself toward the final presentation. This should be a cumulative, comprehensive picture of your entire experience, and it should reflect the quality and value of the internship as a whole. Everything you do in your work should ultimately be in service of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61260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D2CE5-76D1-E55B-6C25-1579322F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72BBDD-536A-1791-B0E7-A558D1E479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5672380" cy="6863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3C0A22-8B90-3ABD-C95C-7437D2A3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420" y="1"/>
            <a:ext cx="6510580" cy="960894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Director" pitchFamily="2" charset="0"/>
                <a:ea typeface="Director" pitchFamily="2" charset="0"/>
              </a:rPr>
              <a:t>PRIORITY #1:</a:t>
            </a:r>
            <a:endParaRPr lang="en-US" sz="4800" b="1" dirty="0">
              <a:latin typeface="Director" pitchFamily="2" charset="0"/>
              <a:ea typeface="Director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EBE451-C5D1-DD6E-CB50-4C819D844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380" y="960895"/>
            <a:ext cx="6528660" cy="5897104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i="1" u="sng" spc="5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PYTHON SUPPORT</a:t>
            </a: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Looks like a complex value-add</a:t>
            </a: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Valuable for us, especially given the death of Trinket</a:t>
            </a: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Enables us to teach a technology heavily used in A.I.</a:t>
            </a: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Not actually </a:t>
            </a:r>
            <a:r>
              <a:rPr lang="en-US" sz="3200" i="1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too</a:t>
            </a: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complicated</a:t>
            </a:r>
            <a:endParaRPr lang="en-US" sz="4000" b="1" i="1" u="sng" spc="5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95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E7BC-86DE-CDBD-AC2D-3397F6881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A8D783-41E6-50D8-09F7-88B33C2B74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673"/>
            <a:ext cx="5672380" cy="68522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8E466D-1AF1-C234-EB50-F2FDFEA6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420" y="1"/>
            <a:ext cx="6510580" cy="960894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Director" pitchFamily="2" charset="0"/>
                <a:ea typeface="Director" pitchFamily="2" charset="0"/>
              </a:rPr>
              <a:t>PRIORITY #2:</a:t>
            </a:r>
            <a:endParaRPr lang="en-US" sz="4800" b="1" dirty="0">
              <a:latin typeface="Director" pitchFamily="2" charset="0"/>
              <a:ea typeface="Director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9529D4-DF34-E797-85CD-595DF2F0D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380" y="960895"/>
            <a:ext cx="6528660" cy="5897104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i="1" u="sng" spc="5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IMPACT FOR YOU</a:t>
            </a: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Speak about the quality of your internship experience</a:t>
            </a: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Share the impact it had on you personally</a:t>
            </a:r>
          </a:p>
          <a:p>
            <a:pPr marL="457200" lvl="1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What you learned, your overall impression of Hyland</a:t>
            </a:r>
          </a:p>
          <a:p>
            <a:pPr marL="457200" lvl="1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This will make me look good :)</a:t>
            </a:r>
          </a:p>
          <a:p>
            <a:pPr marL="0" indent="0" algn="ctr">
              <a:buNone/>
            </a:pPr>
            <a:endParaRPr lang="en-US" sz="4000" b="1" i="1" u="sng" spc="5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E4886-A7C5-BFA1-8CD3-732EDD0D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05B6E5-904F-2F57-51F0-5F56C1931F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8573" y="1"/>
            <a:ext cx="8630644" cy="685799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A75087-D4D4-4D2E-9841-DC92BE8F8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1112" y="960895"/>
            <a:ext cx="4079928" cy="5897103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i="1" u="sng" spc="5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HOMEPAGE REVAMP</a:t>
            </a: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Visual changes are impressive</a:t>
            </a: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Doesn’t have to be super complicated</a:t>
            </a:r>
          </a:p>
          <a:p>
            <a:pPr marL="0" indent="0" algn="ctr">
              <a:buNone/>
            </a:pPr>
            <a:endParaRPr lang="en-US" sz="4000" b="1" i="1" u="sng" spc="5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29F1924-A6B8-6660-B23E-565619199377}"/>
              </a:ext>
            </a:extLst>
          </p:cNvPr>
          <p:cNvSpPr txBox="1">
            <a:spLocks/>
          </p:cNvSpPr>
          <p:nvPr/>
        </p:nvSpPr>
        <p:spPr>
          <a:xfrm>
            <a:off x="8112070" y="1"/>
            <a:ext cx="4079929" cy="960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spc="-1500" dirty="0">
                <a:latin typeface="Director" pitchFamily="2" charset="0"/>
                <a:ea typeface="Director" pitchFamily="2" charset="0"/>
              </a:rPr>
              <a:t>PRIORITY #3:</a:t>
            </a:r>
            <a:endParaRPr lang="en-US" sz="4800" b="1" spc="-1500" dirty="0">
              <a:latin typeface="Director" pitchFamily="2" charset="0"/>
              <a:ea typeface="Direct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49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06EC-B8C9-00E3-1FB5-4F958070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C464B8-E94C-F767-B874-D6C1F4DA10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19479" y="0"/>
            <a:ext cx="9143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8CF234-1414-55A8-3D90-1A2E3FFB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520" y="1"/>
            <a:ext cx="4567480" cy="960894"/>
          </a:xfrm>
        </p:spPr>
        <p:txBody>
          <a:bodyPr>
            <a:noAutofit/>
          </a:bodyPr>
          <a:lstStyle/>
          <a:p>
            <a:pPr algn="ctr"/>
            <a:r>
              <a:rPr lang="en-US" sz="5400" b="1" spc="-1000" dirty="0">
                <a:latin typeface="Director" pitchFamily="2" charset="0"/>
                <a:ea typeface="Director" pitchFamily="2" charset="0"/>
              </a:rPr>
              <a:t>PRIORITY #4:</a:t>
            </a:r>
            <a:endParaRPr lang="en-US" sz="4800" b="1" spc="-1000" dirty="0">
              <a:latin typeface="Director" pitchFamily="2" charset="0"/>
              <a:ea typeface="Director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913330-F23B-E4F2-FF33-7C5F493C0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4520" y="960895"/>
            <a:ext cx="4576519" cy="5897104"/>
          </a:xfrm>
          <a:solidFill>
            <a:schemeClr val="tx1"/>
          </a:solidFill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i="1" u="sng" spc="5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CLASSROOM MODE</a:t>
            </a: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Big Feature</a:t>
            </a: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Requested by our instructors based on actual use of </a:t>
            </a:r>
            <a:r>
              <a:rPr lang="en-US" sz="32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HyTOP</a:t>
            </a: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Would be quite involved but worthwhile</a:t>
            </a:r>
          </a:p>
        </p:txBody>
      </p:sp>
    </p:spTree>
    <p:extLst>
      <p:ext uri="{BB962C8B-B14F-4D97-AF65-F5344CB8AC3E}">
        <p14:creationId xmlns:p14="http://schemas.microsoft.com/office/powerpoint/2010/main" val="185427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E13AA-CA03-5537-CC1C-E8BC5FCF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1C03F0-A538-1F47-A503-8FE5017068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96" y="5673"/>
            <a:ext cx="5481788" cy="68522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8D7833-1BD4-7FF9-3D09-D7720E3A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084" y="1"/>
            <a:ext cx="6614916" cy="960894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Director" pitchFamily="2" charset="0"/>
                <a:ea typeface="Director" pitchFamily="2" charset="0"/>
              </a:rPr>
              <a:t>PRIORITY #5:</a:t>
            </a:r>
            <a:endParaRPr lang="en-US" sz="4800" b="1" dirty="0">
              <a:latin typeface="Director" pitchFamily="2" charset="0"/>
              <a:ea typeface="Director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E68441-CA1E-DCF1-CFB8-3190D09AB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084" y="960895"/>
            <a:ext cx="6623956" cy="5897104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i="1" u="sng" spc="5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SMALL STUFF</a:t>
            </a: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Bug fixes and nice features</a:t>
            </a: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Not as impressive, but probably the most valuable to </a:t>
            </a:r>
            <a:r>
              <a:rPr lang="en-US" sz="32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HyTOP</a:t>
            </a: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Real value for you to learn and contribute to the codebase</a:t>
            </a:r>
          </a:p>
          <a:p>
            <a:pPr marL="457200" lvl="1" indent="0" algn="r">
              <a:buNone/>
            </a:pPr>
            <a:endParaRPr lang="en-US" sz="32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457200" lvl="1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Sheer number of completed PRs could be impressive</a:t>
            </a:r>
          </a:p>
          <a:p>
            <a:pPr marL="0" indent="0" algn="ctr">
              <a:buNone/>
            </a:pPr>
            <a:endParaRPr lang="en-US" sz="4000" b="1" i="1" u="sng" spc="5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96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24259-8B6F-FB70-8CC1-F39A0CD1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F9C366-BB1D-2FDB-FF25-36C414BCC0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499"/>
            <a:ext cx="12192000" cy="685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80AE6F-0CF0-DFEF-51B1-FA5166F6E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spc="2000" dirty="0">
                <a:latin typeface="Director" pitchFamily="2" charset="0"/>
                <a:ea typeface="Director" pitchFamily="2" charset="0"/>
              </a:rPr>
              <a:t>NEXT SPRINT</a:t>
            </a:r>
            <a:endParaRPr lang="en-US" sz="6600" b="1" spc="2000" dirty="0">
              <a:latin typeface="Director" pitchFamily="2" charset="0"/>
              <a:ea typeface="Director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B721B4-814D-0AE6-9A26-BB0070250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1169"/>
            <a:ext cx="12192000" cy="435133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u="sng" dirty="0">
                <a:latin typeface="Inter" panose="020B0502030000000004" pitchFamily="34" charset="0"/>
                <a:ea typeface="Inter" panose="020B0502030000000004" pitchFamily="34" charset="0"/>
              </a:rPr>
              <a:t>Python Support</a:t>
            </a:r>
            <a:r>
              <a:rPr lang="en-US" sz="4000" dirty="0">
                <a:latin typeface="Inter" panose="020B0502030000000004" pitchFamily="34" charset="0"/>
                <a:ea typeface="Inter" panose="020B0502030000000004" pitchFamily="34" charset="0"/>
              </a:rPr>
              <a:t>: UX, research (Figma, Skulpt)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u="sng" dirty="0">
                <a:latin typeface="Inter" panose="020B0502030000000004" pitchFamily="34" charset="0"/>
                <a:ea typeface="Inter" panose="020B0502030000000004" pitchFamily="34" charset="0"/>
              </a:rPr>
              <a:t>Impact for You</a:t>
            </a:r>
            <a:r>
              <a:rPr lang="en-US" sz="4000" dirty="0">
                <a:latin typeface="Inter" panose="020B0502030000000004" pitchFamily="34" charset="0"/>
                <a:ea typeface="Inter" panose="020B0502030000000004" pitchFamily="34" charset="0"/>
              </a:rPr>
              <a:t>: Draft Presentation (Jul 9 Demo)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u="sng" dirty="0">
                <a:latin typeface="Inter" panose="020B0502030000000004" pitchFamily="34" charset="0"/>
                <a:ea typeface="Inter" panose="020B0502030000000004" pitchFamily="34" charset="0"/>
              </a:rPr>
              <a:t>Homepage Revamp, Classroom Mode</a:t>
            </a:r>
            <a:r>
              <a:rPr lang="en-US" sz="4000" dirty="0">
                <a:latin typeface="Inter" panose="020B0502030000000004" pitchFamily="34" charset="0"/>
                <a:ea typeface="Inter" panose="020B0502030000000004" pitchFamily="34" charset="0"/>
              </a:rPr>
              <a:t>: Ideation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u="sng" dirty="0">
                <a:latin typeface="Inter" panose="020B0502030000000004" pitchFamily="34" charset="0"/>
                <a:ea typeface="Inter" panose="020B0502030000000004" pitchFamily="34" charset="0"/>
              </a:rPr>
              <a:t>Small Stuff</a:t>
            </a:r>
            <a:r>
              <a:rPr lang="en-US" sz="4000" dirty="0">
                <a:latin typeface="Inter" panose="020B0502030000000004" pitchFamily="34" charset="0"/>
                <a:ea typeface="Inter" panose="020B0502030000000004" pitchFamily="34" charset="0"/>
              </a:rPr>
              <a:t>:</a:t>
            </a:r>
            <a:r>
              <a:rPr lang="en-US" sz="4000" b="1" dirty="0"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4000" dirty="0">
                <a:latin typeface="Inter" panose="020B0502030000000004" pitchFamily="34" charset="0"/>
                <a:ea typeface="Inter" panose="020B0502030000000004" pitchFamily="34" charset="0"/>
              </a:rPr>
              <a:t>Starting point</a:t>
            </a:r>
          </a:p>
          <a:p>
            <a:pPr marL="0" indent="0">
              <a:buNone/>
            </a:pPr>
            <a:endParaRPr lang="en-US" sz="40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8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A855-254D-C24C-E6A3-D84E87DDAFB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685799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0"/>
              </a:lnSpc>
            </a:pPr>
            <a:r>
              <a:rPr lang="en-US" sz="11500" spc="-1500" dirty="0">
                <a:solidFill>
                  <a:srgbClr val="0000FF"/>
                </a:solidFill>
                <a:latin typeface="Director" pitchFamily="2" charset="0"/>
                <a:ea typeface="Directo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https://github.com/orgs/hto-projects/projects/10/views/2</a:t>
            </a:r>
            <a:endParaRPr lang="en-US" sz="11500" spc="-1500" dirty="0">
              <a:solidFill>
                <a:srgbClr val="0000FF"/>
              </a:solidFill>
              <a:latin typeface="Director" pitchFamily="2" charset="0"/>
              <a:ea typeface="Direct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266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370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Aptos Display</vt:lpstr>
      <vt:lpstr>Aptos</vt:lpstr>
      <vt:lpstr>Inter</vt:lpstr>
      <vt:lpstr>Director</vt:lpstr>
      <vt:lpstr>Office Theme</vt:lpstr>
      <vt:lpstr>you should know by now how much i love to make powerpoints so here is another one</vt:lpstr>
      <vt:lpstr>GOALS</vt:lpstr>
      <vt:lpstr>PowerPoint Presentation</vt:lpstr>
      <vt:lpstr>ORIENTATION:</vt:lpstr>
      <vt:lpstr>PRIORITY #1:</vt:lpstr>
      <vt:lpstr>PRIORITY #2:</vt:lpstr>
      <vt:lpstr>PowerPoint Presentation</vt:lpstr>
      <vt:lpstr>PRIORITY #4:</vt:lpstr>
      <vt:lpstr>PRIORITY #5:</vt:lpstr>
      <vt:lpstr>NEXT SPRINT</vt:lpstr>
      <vt:lpstr>PowerPoint Presentation</vt:lpstr>
    </vt:vector>
  </TitlesOfParts>
  <Company>Hyland Software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Maxwell</dc:creator>
  <cp:lastModifiedBy>Joseph Maxwell</cp:lastModifiedBy>
  <cp:revision>3</cp:revision>
  <dcterms:created xsi:type="dcterms:W3CDTF">2026-06-25T14:22:29Z</dcterms:created>
  <dcterms:modified xsi:type="dcterms:W3CDTF">2026-06-30T15:41:38Z</dcterms:modified>
</cp:coreProperties>
</file>