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5" r:id="rId3"/>
    <p:sldId id="287" r:id="rId4"/>
    <p:sldId id="284" r:id="rId5"/>
    <p:sldId id="288" r:id="rId6"/>
    <p:sldId id="289" r:id="rId7"/>
    <p:sldId id="290" r:id="rId8"/>
    <p:sldId id="291" r:id="rId9"/>
    <p:sldId id="293" r:id="rId10"/>
    <p:sldId id="294" r:id="rId11"/>
    <p:sldId id="295" r:id="rId12"/>
    <p:sldId id="2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122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B62177-7B0C-4B63-83E2-1F7B8AFF6A1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EC7C0-EDA3-4BFE-A1E3-F88025A3B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8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92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547F-E225-6FAE-2A7A-C7352D01B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46251-3F21-DE9F-B062-DF133A19B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CC171-7F1B-430A-C3E9-360D6EBD4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9DFBB-38FF-4741-B5B3-3325045E5ED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64571-C072-6EB7-C422-77B1A5E71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00CA0-E5D6-4D40-1F0C-E907BE532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26368-604E-4B81-9A2C-B44E0F4B9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58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5537-3EA8-9C99-B932-706A0BE2E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26BEA-E97C-2D45-556B-45443FF7F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409B0-6563-9EA4-C27A-1A4133C7F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9DFBB-38FF-4741-B5B3-3325045E5ED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7AB1F-F05A-FF52-B807-BD735BEFF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884A0-4D1F-D11A-C7E7-3A4649E7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26368-604E-4B81-9A2C-B44E0F4B9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9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A8410-5562-04BC-0689-E262EA9B9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FF7E0-F665-5124-A148-D9F67B01F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BDD8D-8CB7-09C1-3FF9-58C27514B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9DFBB-38FF-4741-B5B3-3325045E5ED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ECF69-9E19-2FFE-F9C1-F502524C8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3579A-1279-7715-4D45-9A09538F2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26368-604E-4B81-9A2C-B44E0F4B9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43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D59D0-8C2F-1107-FC71-CAD9F7730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427A6-0BDC-607B-BCC9-84C887B3F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63DD8-052F-320F-5FE4-3F5E3B9BC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8D9CE-1B1A-3BE2-809A-1B24CCF73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9DFBB-38FF-4741-B5B3-3325045E5ED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1460A-150D-7E8B-9F8C-293ECBFC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C3421-27FA-433A-2FE5-C550E894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26368-604E-4B81-9A2C-B44E0F4B9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877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67AC1-4752-2647-D358-C1BF5EA07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6C8E3-19F9-7EDF-CCB6-44F06CF1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14DDCC-071F-439B-38D5-CC2FD5C7A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18E536-77F8-6950-3079-FBDCF4AC1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D2C6BB-CC69-90B9-554E-FBA9A0995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B736A-BC95-86BD-ED5C-8610BBE8F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9DFBB-38FF-4741-B5B3-3325045E5ED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A1B45E-CED5-F600-386C-FC163035D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D0ACBC-0A11-0D3F-1E68-A2B15AB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26368-604E-4B81-9A2C-B44E0F4B9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3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CB4D-7825-F91C-5754-CEF05FE24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3BBBA-4C11-DCE6-C081-53899FC8E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9DFBB-38FF-4741-B5B3-3325045E5ED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04580F-CC8F-519E-C4A2-CE4EC79B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B2D2C2-F349-9D1D-62B3-E239BC08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26368-604E-4B81-9A2C-B44E0F4B9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80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2F6221-8E1D-2594-65C4-FF5D469E4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9DFBB-38FF-4741-B5B3-3325045E5ED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9357C0-5C0D-DB85-0111-D58E4A43D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32E7A-1723-4AEB-64D9-E9BFDF4A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26368-604E-4B81-9A2C-B44E0F4B9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02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6FF19-C097-8D28-2B51-6F13251A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36FF2-DE5E-D486-0CDC-0CA27067B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0EF44-EB3D-8F4C-8AD0-E45B46C53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1F7D4-2818-30B7-EFA7-CFF33E160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9DFBB-38FF-4741-B5B3-3325045E5ED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3C135-ABE3-AAB7-760C-CE6E7E8E8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D79A6-AC8E-549D-9F4E-0D25634CB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26368-604E-4B81-9A2C-B44E0F4B9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3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8171-C880-287D-FE81-300F41D5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10D642-CE83-2A93-430E-9938848597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AA32E-4A48-BB51-F315-1C5CF3F44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065DF-BEA6-4409-2ACC-9299019F3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9DFBB-38FF-4741-B5B3-3325045E5ED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EE189-B9EA-BEF8-4884-FA029A222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ECE07-14B4-C75D-32FB-E51F2B843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26368-604E-4B81-9A2C-B44E0F4B9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7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95D68-183F-5896-0A5B-FC0BAB2D7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209F35-A72C-D721-1018-B78C9A129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13057-0AA2-BD07-62B5-04EE0669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9DFBB-38FF-4741-B5B3-3325045E5ED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B1782-D5B7-0DE0-E18A-52C57545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D9FF3-20A0-77CD-32A9-273288261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26368-604E-4B81-9A2C-B44E0F4B9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69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7A2269-667C-9014-8637-E49C4CDD3C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D430F-D089-3452-EA91-E2F15101D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87821-6E0A-979F-BFA5-64EC67EC1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9DFBB-38FF-4741-B5B3-3325045E5ED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7DF6E-630E-2BBD-F358-9D9B4879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98387-2ABB-56A0-BBA8-F9514E01B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26368-604E-4B81-9A2C-B44E0F4B9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801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A8C072-70A2-E63A-5B42-0B1042B94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9525E-B89E-9951-41E9-33D89CDC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EF7EB-9753-7653-B864-6F74DE5BC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99DFBB-38FF-4741-B5B3-3325045E5ED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D8461-9B05-B840-E62B-BFDE855B9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9B143-897E-832C-86D7-D8EE91A9A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126368-604E-4B81-9A2C-B44E0F4B9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2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hylandtechoutreach.github.io/coding-activities/BuildingWebsites/CodeAlong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hylandtechoutreach.github.io/coding-activities/InteractiveWebsites/QuizAboutMeCodeAlong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hytop.onrender.com/e/what-does-the-cat-say27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to-projects/hytop/blob/main/backend/server.ts" TargetMode="External"/><Relationship Id="rId2" Type="http://schemas.openxmlformats.org/officeDocument/2006/relationships/hyperlink" Target="https://hytop-backend.onrender.com/up-check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to-projects/hytop/blob/main/backend/controllers/fakeApiController.ts" TargetMode="External"/><Relationship Id="rId2" Type="http://schemas.openxmlformats.org/officeDocument/2006/relationships/hyperlink" Target="https://hytop-backend.onrender.com/api/fake-api/dogs?count=5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mongodb.com/v2/6298b3f588a26f3f57a9dfb6#/explorer/6298b488ea69de59adbac92c/HYTOPLIVE/projects/find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.dev/learn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to-projects/hytop/pull/48" TargetMode="External"/><Relationship Id="rId2" Type="http://schemas.openxmlformats.org/officeDocument/2006/relationships/hyperlink" Target="https://github.com/hto-projects/hyto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render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cloud.mongodb.com/v2/6298b3f588a26f3f57a9dfb6#/explorer/6298b488ea69de59adbac92c/HYTOPLIVE" TargetMode="External"/><Relationship Id="rId3" Type="http://schemas.openxmlformats.org/officeDocument/2006/relationships/hyperlink" Target="https://github.com/hto-projects/hytop/blob/main/frontend/src/components/Main/LatestUpdatesScreen.tsx" TargetMode="External"/><Relationship Id="rId7" Type="http://schemas.openxmlformats.org/officeDocument/2006/relationships/hyperlink" Target="https://github.com/hto-projects/hytop/blob/main/backend/models/projectModel.ts" TargetMode="External"/><Relationship Id="rId2" Type="http://schemas.openxmlformats.org/officeDocument/2006/relationships/hyperlink" Target="https://hytop.onrender.com/latest-updat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hto-projects/hytop/blob/main/backend/controllers/projectController.ts#L461" TargetMode="External"/><Relationship Id="rId5" Type="http://schemas.openxmlformats.org/officeDocument/2006/relationships/hyperlink" Target="https://github.com/hto-projects/hytop/blob/main/backend/server.ts#L35" TargetMode="External"/><Relationship Id="rId4" Type="http://schemas.openxmlformats.org/officeDocument/2006/relationships/hyperlink" Target="https://github.com/hto-projects/hytop/blob/main/frontend/src/slices/projectsApiSlice.ts#L7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724E9-B240-2983-7F98-8351C57942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Director" pitchFamily="2" charset="0"/>
                <a:ea typeface="Director" pitchFamily="2" charset="0"/>
              </a:rPr>
              <a:t>CRASH COURSE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3C31C-79B8-80D5-F7AE-D79216D33B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113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E77A-CD04-157B-A6D9-A2B40955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Director" pitchFamily="2" charset="0"/>
                <a:ea typeface="Director" pitchFamily="2" charset="0"/>
              </a:rPr>
              <a:t>HTML &amp;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6D45A-C954-7050-8FBC-28B1E46FF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393936" cy="4351338"/>
          </a:xfrm>
        </p:spPr>
        <p:txBody>
          <a:bodyPr/>
          <a:lstStyle/>
          <a:p>
            <a:pPr marL="0" indent="0">
              <a:buNone/>
            </a:pPr>
            <a:r>
              <a:rPr lang="en-US" sz="6600" b="1" dirty="0">
                <a:latin typeface="Inter" panose="020B0502030000000004" pitchFamily="34" charset="0"/>
                <a:ea typeface="Inter" panose="020B0502030000000004" pitchFamily="34" charset="0"/>
              </a:rPr>
              <a:t>short.hyland.com/www</a:t>
            </a: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  <a:hlinkClick r:id="rId2"/>
            </a:endParaRPr>
          </a:p>
          <a:p>
            <a:pPr marL="0" indent="0">
              <a:buNone/>
            </a:pP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  <a:hlinkClick r:id="rId2"/>
              </a:rPr>
              <a:t>https://hylandtechoutreach.github.io/coding-activities/BuildingWebsites/CodeAlong.html</a:t>
            </a: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389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B16AB-D4B9-5245-3110-16ADAB8E7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064A-8668-4398-9397-89D47791D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Director" pitchFamily="2" charset="0"/>
                <a:ea typeface="Director" pitchFamily="2" charset="0"/>
              </a:rPr>
              <a:t>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34B93-03B6-D436-CD6D-EEE8F8AA1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  <a:hlinkClick r:id="rId2"/>
              </a:rPr>
              <a:t>https://hylandtechoutreach.github.io/coding-activities/InteractiveWebsites/QuizAboutMeCodeAlong.html</a:t>
            </a: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487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38470" cy="1325563"/>
          </a:xfrm>
        </p:spPr>
        <p:txBody>
          <a:bodyPr/>
          <a:lstStyle/>
          <a:p>
            <a:r>
              <a:rPr lang="en-US" dirty="0">
                <a:latin typeface="Director" pitchFamily="2" charset="0"/>
                <a:ea typeface="Director" pitchFamily="2" charset="0"/>
              </a:rPr>
              <a:t>Full-Stack Web Architecture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380999" y="1714500"/>
            <a:ext cx="4012863" cy="4229100"/>
          </a:xfrm>
          <a:prstGeom prst="roundRect">
            <a:avLst>
              <a:gd name="adj" fmla="val 1376"/>
            </a:avLst>
          </a:prstGeom>
          <a:solidFill>
            <a:schemeClr val="accent1">
              <a:lumMod val="20000"/>
              <a:lumOff val="80000"/>
              <a:alpha val="25000"/>
            </a:schemeClr>
          </a:solidFill>
          <a:ln w="19050">
            <a:solidFill>
              <a:srgbClr val="54C8E8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Segoe UI" pitchFamily="34" charset="0"/>
              </a:rPr>
              <a:t>Front-end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Segoe UI" pitchFamily="34" charset="0"/>
              </a:rPr>
              <a:t>(client side)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Segoe UI" pitchFamily="34" charset="0"/>
              </a:rPr>
              <a:t>HTML</a:t>
            </a:r>
            <a:r>
              <a:rPr lang="en-US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Segoe UI" pitchFamily="34" charset="0"/>
              </a:rPr>
              <a:t>, </a:t>
            </a:r>
            <a:r>
              <a:rPr lang="en-US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Segoe UI" pitchFamily="34" charset="0"/>
              </a:rPr>
              <a:t>CSS</a:t>
            </a:r>
            <a:r>
              <a:rPr lang="en-US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Segoe UI" pitchFamily="34" charset="0"/>
              </a:rPr>
              <a:t>, </a:t>
            </a:r>
            <a:r>
              <a:rPr lang="en-US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Segoe UI" pitchFamily="34" charset="0"/>
              </a:rPr>
              <a:t>JavaScript</a:t>
            </a:r>
            <a:r>
              <a:rPr lang="en-US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Segoe UI" pitchFamily="34" charset="0"/>
              </a:rPr>
              <a:t>, </a:t>
            </a:r>
            <a:r>
              <a:rPr lang="en-US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Segoe UI" pitchFamily="34" charset="0"/>
              </a:rPr>
              <a:t>React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900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i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Segoe UI" pitchFamily="34" charset="0"/>
              </a:rPr>
              <a:t>User Interface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5032970" y="1714500"/>
            <a:ext cx="6743700" cy="4229100"/>
          </a:xfrm>
          <a:prstGeom prst="roundRect">
            <a:avLst>
              <a:gd name="adj" fmla="val 1304"/>
            </a:avLst>
          </a:prstGeom>
          <a:solidFill>
            <a:srgbClr val="00586F">
              <a:alpha val="10000"/>
            </a:srgbClr>
          </a:solidFill>
          <a:ln w="19050">
            <a:solidFill>
              <a:srgbClr val="00586F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Segoe UI" pitchFamily="34" charset="0"/>
              </a:rPr>
              <a:t>Back-end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Segoe UI" pitchFamily="34" charset="0"/>
              </a:rPr>
              <a:t>(server side)</a:t>
            </a:r>
          </a:p>
        </p:txBody>
      </p:sp>
      <p:pic>
        <p:nvPicPr>
          <p:cNvPr id="2050" name="Picture 2" descr="Image result for computer screen phone screen icon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107" y="240648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server icon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107" y="2743199"/>
            <a:ext cx="2171700" cy="206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 result for server icon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2743200"/>
            <a:ext cx="2069763" cy="206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089071" y="4971202"/>
            <a:ext cx="3064329" cy="871008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Node.js, Express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600" i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Server</a:t>
            </a:r>
            <a:endParaRPr lang="en-US" i="1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96300" y="4971202"/>
            <a:ext cx="3178629" cy="871008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Mongoose, MongoDB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600" i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Database</a:t>
            </a:r>
            <a:endParaRPr lang="en-US" i="1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152900" y="3657600"/>
            <a:ext cx="1143000" cy="0"/>
          </a:xfrm>
          <a:prstGeom prst="straightConnector1">
            <a:avLst/>
          </a:prstGeom>
          <a:ln w="25400">
            <a:solidFill>
              <a:schemeClr val="accent1"/>
            </a:solidFill>
            <a:miter lim="800000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4152900" y="3730833"/>
            <a:ext cx="1143000" cy="0"/>
          </a:xfrm>
          <a:prstGeom prst="straightConnector1">
            <a:avLst/>
          </a:prstGeom>
          <a:ln w="25400">
            <a:solidFill>
              <a:srgbClr val="00586F"/>
            </a:solidFill>
            <a:miter lim="800000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7788611" y="4114800"/>
            <a:ext cx="1280160" cy="0"/>
          </a:xfrm>
          <a:prstGeom prst="straightConnector1">
            <a:avLst/>
          </a:prstGeom>
          <a:ln w="22225">
            <a:solidFill>
              <a:srgbClr val="000000"/>
            </a:solidFill>
            <a:miter lim="800000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766238" y="3762174"/>
            <a:ext cx="1280160" cy="0"/>
          </a:xfrm>
          <a:prstGeom prst="straightConnector1">
            <a:avLst/>
          </a:prstGeom>
          <a:ln w="22225">
            <a:solidFill>
              <a:srgbClr val="00586F"/>
            </a:solidFill>
            <a:miter lim="800000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19545" y="3364467"/>
            <a:ext cx="1418293" cy="489365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00586F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Queries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9545" y="4053212"/>
            <a:ext cx="1418293" cy="489365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JSON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88115" y="3241468"/>
            <a:ext cx="880070" cy="489365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solidFill>
                  <a:schemeClr val="accent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HTTP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06B520-F10E-986E-630A-9D4AF952F90F}"/>
              </a:ext>
            </a:extLst>
          </p:cNvPr>
          <p:cNvSpPr/>
          <p:nvPr/>
        </p:nvSpPr>
        <p:spPr>
          <a:xfrm rot="16200000">
            <a:off x="5915852" y="735986"/>
            <a:ext cx="325968" cy="11395668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4F64F-7923-9688-5E23-2FB545C72A9B}"/>
              </a:ext>
            </a:extLst>
          </p:cNvPr>
          <p:cNvSpPr txBox="1"/>
          <p:nvPr/>
        </p:nvSpPr>
        <p:spPr>
          <a:xfrm>
            <a:off x="4314992" y="3681413"/>
            <a:ext cx="880070" cy="760208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solidFill>
                  <a:schemeClr val="accent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REST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solidFill>
                  <a:schemeClr val="accent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170738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9C19D-CE89-7CC1-AFC9-DD81F4315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360DF-E52D-990B-02CF-E124ED2B2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Director" pitchFamily="2" charset="0"/>
                <a:ea typeface="Director" pitchFamily="2" charset="0"/>
              </a:rPr>
              <a:t>HTTP Request from 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C1F51-B565-0B7C-5ECA-5C6C4B664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  <a:hlinkClick r:id="rId2"/>
              </a:rPr>
              <a:t>https://hytop.onrender.com/e/what-does-the-cat-say27</a:t>
            </a: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19FA02-6100-01A1-1A48-412C295EAF15}"/>
              </a:ext>
            </a:extLst>
          </p:cNvPr>
          <p:cNvSpPr/>
          <p:nvPr/>
        </p:nvSpPr>
        <p:spPr>
          <a:xfrm rot="16200000">
            <a:off x="5915852" y="735986"/>
            <a:ext cx="325968" cy="11395668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7DD61E9-B749-28AB-9207-81120B45C31F}"/>
              </a:ext>
            </a:extLst>
          </p:cNvPr>
          <p:cNvSpPr/>
          <p:nvPr/>
        </p:nvSpPr>
        <p:spPr>
          <a:xfrm>
            <a:off x="489408" y="6270835"/>
            <a:ext cx="348792" cy="3159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550E8CE-FC0A-8F3A-6553-2012E338DF7A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4261874" y="1963745"/>
            <a:ext cx="709021" cy="7905161"/>
          </a:xfrm>
          <a:prstGeom prst="bentConnector2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941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F4BC4-7FAE-1CF7-7A7C-D7EFBA1D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A6C96-ADA0-4351-23C6-BE409F588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Director" pitchFamily="2" charset="0"/>
                <a:ea typeface="Director" pitchFamily="2" charset="0"/>
              </a:rPr>
              <a:t>HTTP Response from Node.js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2FCB9-B3F0-575D-C827-8E35E78BE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  <a:hlinkClick r:id="rId2"/>
              </a:rPr>
              <a:t>https://hytop-backend.onrender.com/up-check</a:t>
            </a: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</a:rPr>
              <a:t>Code:</a:t>
            </a:r>
          </a:p>
          <a:p>
            <a:pPr marL="0" indent="0">
              <a:buNone/>
            </a:pP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  <a:hlinkClick r:id="rId3"/>
              </a:rPr>
              <a:t>https://github.com/hto-projects/hytop/blob/main/backend/server.ts</a:t>
            </a: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8ECAC1-0621-2866-777C-14CF54E0E748}"/>
              </a:ext>
            </a:extLst>
          </p:cNvPr>
          <p:cNvSpPr/>
          <p:nvPr/>
        </p:nvSpPr>
        <p:spPr>
          <a:xfrm rot="16200000">
            <a:off x="5915852" y="735986"/>
            <a:ext cx="325968" cy="11395668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9C92B1-0EB1-AD27-49F4-88809A4F904B}"/>
              </a:ext>
            </a:extLst>
          </p:cNvPr>
          <p:cNvSpPr/>
          <p:nvPr/>
        </p:nvSpPr>
        <p:spPr>
          <a:xfrm>
            <a:off x="9378884" y="6270835"/>
            <a:ext cx="348792" cy="3159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4B2C8FF-681A-EED1-A6EC-88AE2138159D}"/>
              </a:ext>
            </a:extLst>
          </p:cNvPr>
          <p:cNvCxnSpPr>
            <a:stCxn id="5" idx="0"/>
          </p:cNvCxnSpPr>
          <p:nvPr/>
        </p:nvCxnSpPr>
        <p:spPr>
          <a:xfrm rot="16200000" flipV="1">
            <a:off x="6312204" y="3029759"/>
            <a:ext cx="709021" cy="5773132"/>
          </a:xfrm>
          <a:prstGeom prst="bentConnector2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08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A7D8E-581A-34CF-E459-3B8A09199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5290B-933C-DF04-6DA2-17CBF44C7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Director" pitchFamily="2" charset="0"/>
                <a:ea typeface="Director" pitchFamily="2" charset="0"/>
              </a:rPr>
              <a:t>REST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F0D85-1DBA-74A1-4071-EB58B7C16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  <a:hlinkClick r:id="rId2"/>
              </a:rPr>
              <a:t>https://hytop-backend.onrender.com/api/fake-api/dogs?count=5</a:t>
            </a: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</a:rPr>
              <a:t>Code:</a:t>
            </a:r>
          </a:p>
          <a:p>
            <a:pPr marL="0" indent="0">
              <a:buNone/>
            </a:pPr>
            <a:r>
              <a:rPr lang="en-US" sz="2400" dirty="0">
                <a:latin typeface="Inter" panose="020B0502030000000004" pitchFamily="34" charset="0"/>
                <a:ea typeface="Inter" panose="020B0502030000000004" pitchFamily="34" charset="0"/>
                <a:hlinkClick r:id="rId3"/>
              </a:rPr>
              <a:t>https://</a:t>
            </a:r>
            <a:r>
              <a:rPr lang="en-US" sz="2400" dirty="0">
                <a:latin typeface="Inter" panose="020B0502030000000004" pitchFamily="34" charset="0"/>
                <a:ea typeface="Inter" panose="020B0502030000000004" pitchFamily="34" charset="0"/>
                <a:hlinkClick r:id="rId3"/>
              </a:rPr>
              <a:t>github.com/hto-projects/hytop/blob/main/backend/controllers/fakeApiController.ts</a:t>
            </a:r>
            <a:endParaRPr lang="en-US" sz="2400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Inter" panose="020B0502030000000004" pitchFamily="34" charset="0"/>
                <a:ea typeface="Inter" panose="020B0502030000000004" pitchFamily="34" charset="0"/>
              </a:rPr>
              <a:t>routes.ts</a:t>
            </a: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</a:rPr>
              <a:t> for routing, </a:t>
            </a:r>
            <a:r>
              <a:rPr lang="en-US" b="1" dirty="0" err="1">
                <a:latin typeface="Inter" panose="020B0502030000000004" pitchFamily="34" charset="0"/>
                <a:ea typeface="Inter" panose="020B0502030000000004" pitchFamily="34" charset="0"/>
              </a:rPr>
              <a:t>server.ts</a:t>
            </a: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</a:rPr>
              <a:t> for actual use</a:t>
            </a: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62B57D-69D3-A9F8-AD9C-69E11E314D7E}"/>
              </a:ext>
            </a:extLst>
          </p:cNvPr>
          <p:cNvSpPr/>
          <p:nvPr/>
        </p:nvSpPr>
        <p:spPr>
          <a:xfrm rot="16200000">
            <a:off x="5915852" y="735986"/>
            <a:ext cx="325968" cy="11395668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CEBF905-B659-C5A2-8323-5A274D96CB87}"/>
              </a:ext>
            </a:extLst>
          </p:cNvPr>
          <p:cNvSpPr/>
          <p:nvPr/>
        </p:nvSpPr>
        <p:spPr>
          <a:xfrm>
            <a:off x="4222815" y="6270835"/>
            <a:ext cx="1941136" cy="3159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6B9A7A7-33F3-07AA-9EB5-AA933E750534}"/>
              </a:ext>
            </a:extLst>
          </p:cNvPr>
          <p:cNvCxnSpPr>
            <a:cxnSpLocks/>
          </p:cNvCxnSpPr>
          <p:nvPr/>
        </p:nvCxnSpPr>
        <p:spPr>
          <a:xfrm>
            <a:off x="3072352" y="6080288"/>
            <a:ext cx="4242062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AE56C2-8956-1721-ED08-DE9FF215FE89}"/>
              </a:ext>
            </a:extLst>
          </p:cNvPr>
          <p:cNvCxnSpPr>
            <a:cxnSpLocks/>
          </p:cNvCxnSpPr>
          <p:nvPr/>
        </p:nvCxnSpPr>
        <p:spPr>
          <a:xfrm flipH="1">
            <a:off x="4305692" y="5874470"/>
            <a:ext cx="179030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9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CFC8A-F1FB-120D-831C-E93C19754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31A41-45ED-E5DE-5953-115EF49F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Director" pitchFamily="2" charset="0"/>
                <a:ea typeface="Director" pitchFamily="2" charset="0"/>
              </a:rPr>
              <a:t>Database: 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F0E89-A746-15CD-8B2E-BE6008915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BA0C2-FBA4-6DDE-0260-679702B5B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19" y="1614948"/>
            <a:ext cx="7382905" cy="47726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12C8EE-B5EE-9943-7817-DC20576F54F5}"/>
              </a:ext>
            </a:extLst>
          </p:cNvPr>
          <p:cNvSpPr txBox="1"/>
          <p:nvPr/>
        </p:nvSpPr>
        <p:spPr>
          <a:xfrm>
            <a:off x="8540496" y="2413337"/>
            <a:ext cx="22197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https://cloud.mongodb.com/v2/6298b3f588a26f3f57a9dfb6#/explorer/6298b488ea69de59adbac92c/HYTOPLIVE/projects/find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DDADF1-B2C9-3B01-84FC-E9357815E58C}"/>
              </a:ext>
            </a:extLst>
          </p:cNvPr>
          <p:cNvSpPr txBox="1"/>
          <p:nvPr/>
        </p:nvSpPr>
        <p:spPr>
          <a:xfrm>
            <a:off x="9537192" y="5418375"/>
            <a:ext cx="97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.env</a:t>
            </a:r>
            <a:r>
              <a:rPr lang="en-US" dirty="0"/>
              <a:t> file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75543A-F8C8-69FB-6FC6-62E4403EFF6E}"/>
              </a:ext>
            </a:extLst>
          </p:cNvPr>
          <p:cNvSpPr/>
          <p:nvPr/>
        </p:nvSpPr>
        <p:spPr>
          <a:xfrm rot="16200000">
            <a:off x="5915852" y="735986"/>
            <a:ext cx="325968" cy="11395668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070D345-241C-7050-AD99-E96121A8069C}"/>
              </a:ext>
            </a:extLst>
          </p:cNvPr>
          <p:cNvSpPr/>
          <p:nvPr/>
        </p:nvSpPr>
        <p:spPr>
          <a:xfrm>
            <a:off x="11353800" y="6270835"/>
            <a:ext cx="348792" cy="3159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2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CE7D7-660E-A52E-DD98-05284873E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3B8F6-DF4E-CDAE-EF57-66F1086A5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Director" pitchFamily="2" charset="0"/>
                <a:ea typeface="Director" pitchFamily="2" charset="0"/>
              </a:rPr>
              <a:t>React: Quick 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6F419-6509-30F4-BDAE-232FF0377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252625-1351-31DF-7305-7471403D5C9B}"/>
              </a:ext>
            </a:extLst>
          </p:cNvPr>
          <p:cNvSpPr txBox="1"/>
          <p:nvPr/>
        </p:nvSpPr>
        <p:spPr>
          <a:xfrm>
            <a:off x="1840230" y="1825625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latin typeface="Inter" panose="020B0502030000000004" pitchFamily="34" charset="0"/>
                <a:ea typeface="Inter" panose="020B0502030000000004" pitchFamily="34" charset="0"/>
                <a:hlinkClick r:id="rId2"/>
              </a:rPr>
              <a:t>react.dev</a:t>
            </a:r>
            <a:r>
              <a:rPr lang="en-US" sz="3600" dirty="0">
                <a:latin typeface="Inter" panose="020B0502030000000004" pitchFamily="34" charset="0"/>
                <a:ea typeface="Inter" panose="020B0502030000000004" pitchFamily="34" charset="0"/>
                <a:hlinkClick r:id="rId2"/>
              </a:rPr>
              <a:t>/learn</a:t>
            </a:r>
            <a:endParaRPr lang="en-US" sz="360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6D6D1D-96A9-6065-E7AE-5BC31D9FFAD2}"/>
              </a:ext>
            </a:extLst>
          </p:cNvPr>
          <p:cNvSpPr/>
          <p:nvPr/>
        </p:nvSpPr>
        <p:spPr>
          <a:xfrm rot="16200000">
            <a:off x="5915852" y="735986"/>
            <a:ext cx="325968" cy="11395668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045B5E-2B8C-4D20-CB59-A71040090C34}"/>
              </a:ext>
            </a:extLst>
          </p:cNvPr>
          <p:cNvSpPr/>
          <p:nvPr/>
        </p:nvSpPr>
        <p:spPr>
          <a:xfrm>
            <a:off x="937182" y="6270835"/>
            <a:ext cx="348792" cy="3159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3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576D0-5C80-9A53-FFAA-F20245163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1DDD189-C617-44E1-1436-D8354A7EB391}"/>
              </a:ext>
            </a:extLst>
          </p:cNvPr>
          <p:cNvSpPr/>
          <p:nvPr/>
        </p:nvSpPr>
        <p:spPr>
          <a:xfrm rot="16200000">
            <a:off x="2667000" y="-2667001"/>
            <a:ext cx="6858001" cy="12192001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0E5ED-D5EC-51EC-C483-11D0C04E6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6483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Director" pitchFamily="2" charset="0"/>
                <a:ea typeface="Director" pitchFamily="2" charset="0"/>
              </a:rPr>
              <a:t>Collaboration: Git &amp;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78A0E-A322-6D4A-91D2-0B13DD977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D17D0B-2AC4-2345-CC0C-5C999781CF97}"/>
              </a:ext>
            </a:extLst>
          </p:cNvPr>
          <p:cNvSpPr txBox="1"/>
          <p:nvPr/>
        </p:nvSpPr>
        <p:spPr>
          <a:xfrm>
            <a:off x="0" y="743725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 in GitHub</a:t>
            </a:r>
            <a:r>
              <a:rPr lang="en-US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  ……..  </a:t>
            </a:r>
            <a:r>
              <a:rPr lang="en-US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Pull Request Example</a:t>
            </a:r>
            <a:endParaRPr lang="en-US" sz="3200" dirty="0">
              <a:solidFill>
                <a:schemeClr val="accent6">
                  <a:lumMod val="20000"/>
                  <a:lumOff val="80000"/>
                </a:scheme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E1ADA8-2A23-0135-DED6-62F3B99ED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1589929"/>
            <a:ext cx="12192000" cy="482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2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8B712-6FE6-C7BC-B10A-FCFE876C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A24BE-8A68-A50C-E875-428FB9530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Director" pitchFamily="2" charset="0"/>
                <a:ea typeface="Director" pitchFamily="2" charset="0"/>
              </a:rPr>
              <a:t>Deployment: Render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816D7-396A-03EC-EF3C-C60BA137A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7E0E2-4972-82F8-E635-A8754DEA0EDA}"/>
              </a:ext>
            </a:extLst>
          </p:cNvPr>
          <p:cNvSpPr txBox="1"/>
          <p:nvPr/>
        </p:nvSpPr>
        <p:spPr>
          <a:xfrm>
            <a:off x="1840230" y="1825625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Inter" panose="020B0502030000000004" pitchFamily="34" charset="0"/>
                <a:ea typeface="Inter" panose="020B0502030000000004" pitchFamily="34" charset="0"/>
                <a:hlinkClick r:id="rId2"/>
              </a:rPr>
              <a:t>https://render.com/</a:t>
            </a:r>
            <a:endParaRPr lang="en-US" sz="360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B940C-99A3-2976-DCB1-5C0C9B82DACE}"/>
              </a:ext>
            </a:extLst>
          </p:cNvPr>
          <p:cNvSpPr/>
          <p:nvPr/>
        </p:nvSpPr>
        <p:spPr>
          <a:xfrm rot="16200000">
            <a:off x="5915852" y="735986"/>
            <a:ext cx="325968" cy="11395668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763F59-7033-0F43-9E60-93B4E439483C}"/>
              </a:ext>
            </a:extLst>
          </p:cNvPr>
          <p:cNvSpPr/>
          <p:nvPr/>
        </p:nvSpPr>
        <p:spPr>
          <a:xfrm>
            <a:off x="937182" y="6270835"/>
            <a:ext cx="10416618" cy="3159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1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D611F-4F24-6A31-232C-DC539DC37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ABD0-7817-17AD-F19C-C319BC92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Director" pitchFamily="2" charset="0"/>
                <a:ea typeface="Director" pitchFamily="2" charset="0"/>
              </a:rPr>
              <a:t>Putting It All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60C24-0BD1-10BE-AD46-5374FF9A7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4218" y="1825625"/>
            <a:ext cx="99013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  <a:hlinkClick r:id="rId2"/>
              </a:rPr>
              <a:t>https://hytop.onrender.com/latest-updates/</a:t>
            </a: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Inter" panose="020B0502030000000004" pitchFamily="34" charset="0"/>
              </a:rPr>
              <a:t>&lt;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Inter" panose="020B0502030000000004" pitchFamily="34" charset="0"/>
              </a:rPr>
              <a:t>LatestUpdatesScreen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Inter" panose="020B0502030000000004" pitchFamily="34" charset="0"/>
              </a:rPr>
              <a:t>&gt;</a:t>
            </a: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</a:rPr>
              <a:t> from </a:t>
            </a:r>
            <a:r>
              <a:rPr lang="en-US" b="1" dirty="0" err="1">
                <a:solidFill>
                  <a:schemeClr val="accent1"/>
                </a:solidFill>
                <a:latin typeface="Inter" panose="020B0502030000000004" pitchFamily="34" charset="0"/>
                <a:ea typeface="Inter" panose="020B05020300000000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LatestUpdatesScreen.tsx</a:t>
            </a:r>
            <a:endParaRPr lang="en-US" b="1" dirty="0">
              <a:solidFill>
                <a:schemeClr val="accent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r>
              <a:rPr lang="en-US" dirty="0" err="1">
                <a:solidFill>
                  <a:schemeClr val="accent5"/>
                </a:solidFill>
                <a:latin typeface="Consolas" panose="020B0609020204030204" pitchFamily="49" charset="0"/>
                <a:ea typeface="Inter" panose="020B0502030000000004" pitchFamily="34" charset="0"/>
              </a:rPr>
              <a:t>useGetLatestProjectsQuery</a:t>
            </a: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</a:rPr>
              <a:t> from </a:t>
            </a:r>
            <a:r>
              <a:rPr lang="en-US" b="1" dirty="0" err="1">
                <a:solidFill>
                  <a:schemeClr val="accent1"/>
                </a:solidFill>
                <a:latin typeface="Inter" panose="020B0502030000000004" pitchFamily="34" charset="0"/>
                <a:ea typeface="Inter" panose="020B05020300000000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projectsApiSlice.ts</a:t>
            </a:r>
            <a:endParaRPr lang="en-US" b="1" dirty="0">
              <a:solidFill>
                <a:schemeClr val="accent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  <a:hlinkClick r:id="rId5"/>
              </a:rPr>
              <a:t>routed through</a:t>
            </a: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b="1" dirty="0" err="1">
                <a:latin typeface="Inter" panose="020B0502030000000004" pitchFamily="34" charset="0"/>
                <a:ea typeface="Inter" panose="020B0502030000000004" pitchFamily="34" charset="0"/>
              </a:rPr>
              <a:t>projectRoutes.ts</a:t>
            </a: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</a:rPr>
              <a:t> and </a:t>
            </a:r>
            <a:r>
              <a:rPr lang="en-US" b="1" dirty="0" err="1">
                <a:latin typeface="Inter" panose="020B0502030000000004" pitchFamily="34" charset="0"/>
                <a:ea typeface="Inter" panose="020B0502030000000004" pitchFamily="34" charset="0"/>
              </a:rPr>
              <a:t>server.ts</a:t>
            </a: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r>
              <a:rPr lang="en-US" dirty="0" err="1">
                <a:solidFill>
                  <a:schemeClr val="accent5"/>
                </a:solidFill>
                <a:latin typeface="Consolas" panose="020B0609020204030204" pitchFamily="49" charset="0"/>
                <a:ea typeface="Inter" panose="020B0502030000000004" pitchFamily="34" charset="0"/>
              </a:rPr>
              <a:t>getLatest</a:t>
            </a: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</a:rPr>
              <a:t> defined in </a:t>
            </a:r>
            <a:r>
              <a:rPr lang="en-US" b="1" dirty="0" err="1">
                <a:solidFill>
                  <a:schemeClr val="accent1"/>
                </a:solidFill>
                <a:latin typeface="Inter" panose="020B0502030000000004" pitchFamily="34" charset="0"/>
                <a:ea typeface="Inter" panose="020B05020300000000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projectController.ts</a:t>
            </a:r>
            <a:endParaRPr lang="en-US" dirty="0">
              <a:solidFill>
                <a:schemeClr val="accent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r>
              <a:rPr lang="en-US" b="1" dirty="0" err="1">
                <a:solidFill>
                  <a:schemeClr val="accent1"/>
                </a:solidFill>
                <a:latin typeface="Inter" panose="020B0502030000000004" pitchFamily="34" charset="0"/>
                <a:ea typeface="Inter" panose="020B05020300000000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projectModel.ts</a:t>
            </a:r>
            <a:r>
              <a:rPr lang="en-US" dirty="0">
                <a:solidFill>
                  <a:schemeClr val="accent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</a:rPr>
              <a:t>for schema</a:t>
            </a:r>
          </a:p>
          <a:p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  <a:hlinkClick r:id="rId8"/>
              </a:rPr>
              <a:t>Database</a:t>
            </a: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US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D9C328-893F-38F8-291B-1BF1C4B7C799}"/>
              </a:ext>
            </a:extLst>
          </p:cNvPr>
          <p:cNvSpPr/>
          <p:nvPr/>
        </p:nvSpPr>
        <p:spPr>
          <a:xfrm>
            <a:off x="301751" y="1825625"/>
            <a:ext cx="1462393" cy="4200271"/>
          </a:xfrm>
          <a:prstGeom prst="rect">
            <a:avLst/>
          </a:prstGeom>
          <a:gradFill>
            <a:gsLst>
              <a:gs pos="0">
                <a:schemeClr val="accent2"/>
              </a:gs>
              <a:gs pos="4800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E7460-A179-5149-CC18-17B215247ADF}"/>
              </a:ext>
            </a:extLst>
          </p:cNvPr>
          <p:cNvSpPr txBox="1"/>
          <p:nvPr/>
        </p:nvSpPr>
        <p:spPr>
          <a:xfrm>
            <a:off x="446087" y="1916546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Frontend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BC361C-B154-8DD0-5C49-4C2EED334C7F}"/>
              </a:ext>
            </a:extLst>
          </p:cNvPr>
          <p:cNvSpPr txBox="1"/>
          <p:nvPr/>
        </p:nvSpPr>
        <p:spPr>
          <a:xfrm>
            <a:off x="503795" y="5514110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Backend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6A5E99-FB8D-65B8-81CD-522B6CFF1C41}"/>
              </a:ext>
            </a:extLst>
          </p:cNvPr>
          <p:cNvCxnSpPr>
            <a:cxnSpLocks/>
          </p:cNvCxnSpPr>
          <p:nvPr/>
        </p:nvCxnSpPr>
        <p:spPr>
          <a:xfrm>
            <a:off x="738910" y="2394527"/>
            <a:ext cx="0" cy="3008746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331996-6271-64E2-1506-67CC04ADD641}"/>
              </a:ext>
            </a:extLst>
          </p:cNvPr>
          <p:cNvCxnSpPr>
            <a:cxnSpLocks/>
          </p:cNvCxnSpPr>
          <p:nvPr/>
        </p:nvCxnSpPr>
        <p:spPr>
          <a:xfrm flipV="1">
            <a:off x="1276929" y="2376799"/>
            <a:ext cx="0" cy="3026474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238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291</Words>
  <Application>Microsoft Office PowerPoint</Application>
  <PresentationFormat>Widescreen</PresentationFormat>
  <Paragraphs>81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Director</vt:lpstr>
      <vt:lpstr>Inter</vt:lpstr>
      <vt:lpstr>Office Theme</vt:lpstr>
      <vt:lpstr>CRASH COURSE</vt:lpstr>
      <vt:lpstr>HTML &amp; CSS</vt:lpstr>
      <vt:lpstr>JavaScript</vt:lpstr>
      <vt:lpstr>Full-Stack Web Architecture</vt:lpstr>
      <vt:lpstr>HTTP Request from JS</vt:lpstr>
      <vt:lpstr>HTTP Response from Node.js</vt:lpstr>
      <vt:lpstr>REST API</vt:lpstr>
      <vt:lpstr>Database: MongoDB</vt:lpstr>
      <vt:lpstr>React: Quick Start</vt:lpstr>
      <vt:lpstr>Collaboration: Git &amp; GitHub</vt:lpstr>
      <vt:lpstr>Deployment: Render</vt:lpstr>
      <vt:lpstr>Putting It All Together</vt:lpstr>
    </vt:vector>
  </TitlesOfParts>
  <Company>Hyland Software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Maxwell</dc:creator>
  <cp:lastModifiedBy>Joseph Maxwell</cp:lastModifiedBy>
  <cp:revision>2</cp:revision>
  <dcterms:created xsi:type="dcterms:W3CDTF">2026-06-04T16:38:35Z</dcterms:created>
  <dcterms:modified xsi:type="dcterms:W3CDTF">2026-06-04T17:54:50Z</dcterms:modified>
</cp:coreProperties>
</file>